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CED7B-9626-4F76-A37F-90CB9D374290}" type="datetimeFigureOut">
              <a:rPr lang="en-IN" smtClean="0"/>
              <a:pPr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6C649-28DD-41A0-BAE6-D7A6FFEB0BA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49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DD80-68DF-47C4-94DB-4526F47D9684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3A76-5253-4797-A7B0-4C330FCE514D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D053-E077-4B8C-A325-F2712C72FBCB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3C7E7-FF44-4C10-9BD4-786137026158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4656-F6D2-40AA-A419-7A3CA8FEFFDA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009D9-4D7C-4A08-8014-4674A6A8BB83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DC01-3154-46B3-A2D2-1237CB73B059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EE5AC-FDAE-4383-83E9-815FBD6BBFA1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45331-4DDD-47E7-85CC-875E722EDC5C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04BDD-62A2-4298-9097-B702F55F04F6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EC05C-B653-4D46-A7A7-3863EA85EED3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1E672D4-D29C-42AB-8BF5-3049D6624580}" type="datetime1">
              <a:rPr lang="en-IN" smtClean="0"/>
              <a:pPr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D63B8B8-83C2-4EED-941D-AF0ADB39AC4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FB8B-B01D-4001-85A3-34941C725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973"/>
            <a:ext cx="12191999" cy="214666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Edge-AI Driven Electronic Indian Astrological Calendar for Offline Applications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8528" y="4178035"/>
            <a:ext cx="34976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GUIDED BY: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R 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Sabeenian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:07-04-2026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7636" y="4178035"/>
            <a:ext cx="70552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MEMBERS:</a:t>
            </a:r>
          </a:p>
          <a:p>
            <a:endParaRPr lang="en-IN" sz="2400" b="1" dirty="0">
              <a:solidFill>
                <a:srgbClr val="21057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Raghav Kanva V R : 61781922103099</a:t>
            </a:r>
          </a:p>
          <a:p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Dyanesh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M : 61781922103026</a:t>
            </a:r>
          </a:p>
          <a:p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Soundrarajan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S A : 61781922103129</a:t>
            </a:r>
          </a:p>
          <a:p>
            <a:endParaRPr lang="en-IN" sz="2400" dirty="0">
              <a:solidFill>
                <a:srgbClr val="21057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98473" y="2679965"/>
            <a:ext cx="199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BATCH –A1</a:t>
            </a:r>
          </a:p>
        </p:txBody>
      </p:sp>
    </p:spTree>
    <p:extLst>
      <p:ext uri="{BB962C8B-B14F-4D97-AF65-F5344CB8AC3E}">
        <p14:creationId xmlns:p14="http://schemas.microsoft.com/office/powerpoint/2010/main" val="29310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43854" y="6285497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964873" y="374073"/>
            <a:ext cx="6428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128D8C-E80D-4EF2-8699-EA3EE3146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509787"/>
              </p:ext>
            </p:extLst>
          </p:nvPr>
        </p:nvGraphicFramePr>
        <p:xfrm>
          <a:off x="720316" y="979614"/>
          <a:ext cx="10723538" cy="5479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86588">
                  <a:extLst>
                    <a:ext uri="{9D8B030D-6E8A-4147-A177-3AD203B41FA5}">
                      <a16:colId xmlns:a16="http://schemas.microsoft.com/office/drawing/2014/main" val="2703876085"/>
                    </a:ext>
                  </a:extLst>
                </a:gridCol>
                <a:gridCol w="5036950">
                  <a:extLst>
                    <a:ext uri="{9D8B030D-6E8A-4147-A177-3AD203B41FA5}">
                      <a16:colId xmlns:a16="http://schemas.microsoft.com/office/drawing/2014/main" val="87862621"/>
                    </a:ext>
                  </a:extLst>
                </a:gridCol>
              </a:tblGrid>
              <a:tr h="863028">
                <a:tc>
                  <a:txBody>
                    <a:bodyPr/>
                    <a:lstStyle/>
                    <a:p>
                      <a:r>
                        <a:rPr lang="en-US"/>
                        <a:t>Paper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952432"/>
                  </a:ext>
                </a:extLst>
              </a:tr>
              <a:tr h="23083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Aptos"/>
                        </a:rPr>
                        <a:t>Calendars, Rituals, and Astral Science in India</a:t>
                      </a:r>
                      <a:endParaRPr lang="en-US" b="1" dirty="0"/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 dirty="0"/>
                        <a:t>Focus:</a:t>
                      </a:r>
                      <a:r>
                        <a:rPr lang="en-US" sz="1800" b="0" i="0" u="none" strike="noStrike" noProof="0" dirty="0"/>
                        <a:t> Analyzes the complexity of the Indian calendric system and the role of software in calculating auspicious moments.</a:t>
                      </a:r>
                      <a:br>
                        <a:rPr lang="en-US" dirty="0"/>
                      </a:br>
                      <a:r>
                        <a:rPr lang="en-US" b="1" dirty="0"/>
                        <a:t>Journal:</a:t>
                      </a:r>
                      <a:r>
                        <a:rPr lang="en-US" dirty="0"/>
                        <a:t>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https://orca.cardiff.ac.uk/id/eprint/99684/1/642-1536-2-PB.pdf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Analyzes the complexity of the Indian 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calendric system and the role of software in calculating auspicious moments.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789600"/>
                  </a:ext>
                </a:extLst>
              </a:tr>
              <a:tr h="2308314">
                <a:tc>
                  <a:txBody>
                    <a:bodyPr/>
                    <a:lstStyle/>
                    <a:p>
                      <a:r>
                        <a:rPr lang="en-IN" b="1" dirty="0" err="1"/>
                        <a:t>Meeus</a:t>
                      </a:r>
                      <a:r>
                        <a:rPr lang="en-IN" b="1" dirty="0"/>
                        <a:t>, Jean (1998)</a:t>
                      </a:r>
                    </a:p>
                    <a:p>
                      <a:r>
                        <a:rPr lang="en-IN" b="1" dirty="0"/>
                        <a:t>Title:</a:t>
                      </a:r>
                      <a:r>
                        <a:rPr lang="en-IN" dirty="0"/>
                        <a:t> </a:t>
                      </a:r>
                      <a:r>
                        <a:rPr lang="en-IN" i="1" dirty="0"/>
                        <a:t>Astronomical Algorithms (2nd Edition)</a:t>
                      </a:r>
                      <a:br>
                        <a:rPr lang="en-IN" dirty="0"/>
                      </a:br>
                      <a:r>
                        <a:rPr lang="en-IN" b="1" dirty="0"/>
                        <a:t>Publisher:</a:t>
                      </a:r>
                      <a:r>
                        <a:rPr lang="en-IN" dirty="0"/>
                        <a:t> Willmann-Bell, Richmond, 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Julian Day, solar longitude, declination, obliquity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739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67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3</a:t>
            </a:fld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31051"/>
              </p:ext>
            </p:extLst>
          </p:nvPr>
        </p:nvGraphicFramePr>
        <p:xfrm>
          <a:off x="96253" y="0"/>
          <a:ext cx="11868439" cy="7041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6092">
                  <a:extLst>
                    <a:ext uri="{9D8B030D-6E8A-4147-A177-3AD203B41FA5}">
                      <a16:colId xmlns:a16="http://schemas.microsoft.com/office/drawing/2014/main" val="1288937384"/>
                    </a:ext>
                  </a:extLst>
                </a:gridCol>
                <a:gridCol w="5982347">
                  <a:extLst>
                    <a:ext uri="{9D8B030D-6E8A-4147-A177-3AD203B41FA5}">
                      <a16:colId xmlns:a16="http://schemas.microsoft.com/office/drawing/2014/main" val="4284883222"/>
                    </a:ext>
                  </a:extLst>
                </a:gridCol>
              </a:tblGrid>
              <a:tr h="847089"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IN" sz="2400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NAME AND TITLE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CORRESPONDING EXPLANATION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264756"/>
                  </a:ext>
                </a:extLst>
              </a:tr>
              <a:tr h="1553888">
                <a:tc>
                  <a:txBody>
                    <a:bodyPr/>
                    <a:lstStyle/>
                    <a:p>
                      <a:pPr algn="just"/>
                      <a:r>
                        <a:rPr kumimoji="0" lang="fr-FR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M. </a:t>
                      </a:r>
                      <a:r>
                        <a:rPr kumimoji="0" lang="fr-FR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Banzi</a:t>
                      </a:r>
                      <a:r>
                        <a:rPr kumimoji="0" lang="fr-FR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D. </a:t>
                      </a:r>
                      <a:r>
                        <a:rPr kumimoji="0" lang="fr-FR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Cuartielles</a:t>
                      </a:r>
                      <a:r>
                        <a:rPr kumimoji="0" lang="fr-FR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2023, Arduino Nano </a:t>
                      </a:r>
                      <a:r>
                        <a:rPr kumimoji="0" lang="fr-FR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Technical</a:t>
                      </a:r>
                      <a:r>
                        <a:rPr kumimoji="0" lang="fr-FR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Specifications</a:t>
                      </a:r>
                      <a:r>
                        <a:rPr kumimoji="0" lang="fr-FR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Arduino Hardware Documentation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Point-1: Provides a compact, breadboard-friendly form factor for embedded health devices.</a:t>
                      </a:r>
                    </a:p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Point-2: Offers sufficient analog and digital pins for connecting various medical sensors.</a:t>
                      </a:r>
                    </a:p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Point-3: Has limited SRAM, making it difficult to process heavy machine-learning data.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705000"/>
                  </a:ext>
                </a:extLst>
              </a:tr>
              <a:tr h="2459048">
                <a:tc>
                  <a:txBody>
                    <a:bodyPr/>
                    <a:lstStyle/>
                    <a:p>
                      <a:pPr algn="just"/>
                      <a:r>
                        <a:rPr kumimoji="0" lang="en-IN" sz="180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kumimoji="0" lang="en-US" sz="180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L. Fried, 2023, 2.4 Inch TFT LCD Display Guide, Adafruit Industries Documentation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Point-1: Provides a clear visual interface for displaying real-time patient health metrics.</a:t>
                      </a:r>
                    </a:p>
                    <a:p>
                      <a:pPr algn="just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Point-2: Supports customizable touch-screen inputs for easy user navigation.</a:t>
                      </a:r>
                    </a:p>
                    <a:p>
                      <a:pPr algn="just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Point-3: Consumes significant power and memory, requiring careful resource management.</a:t>
                      </a:r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76206"/>
                  </a:ext>
                </a:extLst>
              </a:tr>
              <a:tr h="1997974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 Zambetti, 2022, Wire Library for I2C Communication, Arduino Library Documentation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Point-1: Enables master-slave communication between the controller and multiple sensors.</a:t>
                      </a:r>
                    </a:p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Point-2: Simplifies complex data transfers into a standard two-wire interface.</a:t>
                      </a:r>
                    </a:p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Point-3: Lacks advanced error-handling for long-distance or high-noise environments.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075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16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766FC-8776-4ECD-B80A-E61D13924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02B49-E110-443A-8ABC-FC9754BB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5732" y="6158767"/>
            <a:ext cx="753545" cy="365125"/>
          </a:xfrm>
        </p:spPr>
        <p:txBody>
          <a:bodyPr/>
          <a:lstStyle/>
          <a:p>
            <a:fld id="{FD63B8B8-83C2-4EED-941D-AF0ADB39AC41}" type="slidenum">
              <a:rPr lang="en-IN" sz="1200" smtClean="0"/>
              <a:pPr/>
              <a:t>4</a:t>
            </a:fld>
            <a:endParaRPr lang="en-IN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F98F6-C916-4D59-B168-36EE7AB643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9966" y="214462"/>
            <a:ext cx="11577234" cy="63094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cap="all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EXISTING METHODOLOGY</a:t>
            </a:r>
          </a:p>
          <a:p>
            <a:pPr marL="0" indent="0" algn="just">
              <a:buNone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D2F7341-C9A8-A418-46C3-F6E2FE62F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60962"/>
            <a:ext cx="1208830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multi-parameter analysis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Mostly Only online model exists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accuracy in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prediction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power consumption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decision-making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921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4AD3-B789-3188-593B-0C3CF02F2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8E58A-9E85-29A9-455E-E4062D00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483" y="0"/>
            <a:ext cx="10363200" cy="1143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05F78-4B0F-B0DA-1F5C-3D9FAC3F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0783" y="6248399"/>
            <a:ext cx="753545" cy="365125"/>
          </a:xfrm>
        </p:spPr>
        <p:txBody>
          <a:bodyPr/>
          <a:lstStyle/>
          <a:p>
            <a:fld id="{FD63B8B8-83C2-4EED-941D-AF0ADB39AC41}" type="slidenum">
              <a:rPr lang="en-IN" sz="1400" smtClean="0"/>
              <a:pPr/>
              <a:t>5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2D5611-5294-8E37-8CA9-FAD3B7DB48D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104239" y="1433542"/>
            <a:ext cx="119576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Overcoming Connectivity Barriers: Eliminating dependence on cloud APIs and internet access for critical daily solar calculations in remote or low-signal areas.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Rectifying Digital Latency and Inaccuracy: Solving the "city-level" approximation error by providing hyper-local, coordinate-specific timings for Sunrise (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Suryodaya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Sunset (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Suryasta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Real-Time Intelligence: Transitioning from passive data retrieval to an active, Edge-AI driven system that computes solar events independently on-device.</a:t>
            </a:r>
          </a:p>
        </p:txBody>
      </p:sp>
    </p:spTree>
    <p:extLst>
      <p:ext uri="{BB962C8B-B14F-4D97-AF65-F5344CB8AC3E}">
        <p14:creationId xmlns:p14="http://schemas.microsoft.com/office/powerpoint/2010/main" val="1338713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E50A-7228-403C-B662-2AA65FCA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483" y="0"/>
            <a:ext cx="10363200" cy="1143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31ACA-E604-4C35-843A-1299CF68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0783" y="6248399"/>
            <a:ext cx="753545" cy="365125"/>
          </a:xfrm>
        </p:spPr>
        <p:txBody>
          <a:bodyPr/>
          <a:lstStyle/>
          <a:p>
            <a:fld id="{FD63B8B8-83C2-4EED-941D-AF0ADB39AC41}" type="slidenum">
              <a:rPr lang="en-IN" sz="1400" smtClean="0"/>
              <a:pPr/>
              <a:t>6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5A1294-62BA-0667-A847-CC24B744FE2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811689" y="1069641"/>
            <a:ext cx="1056862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Accurate sunrise and sunset timings are calculated using standard astronomical algorithms such as Julian Day conversion, solar declination, Equation of Time, and hour angle computation.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The calculated sunrise time is used as the reference point for daily </a:t>
            </a:r>
            <a:r>
              <a:rPr lang="en-US" altLang="en-US" sz="2800" dirty="0" err="1">
                <a:latin typeface="Arial" panose="020B0604020202020204" pitchFamily="34" charset="0"/>
              </a:rPr>
              <a:t>Panchang</a:t>
            </a:r>
            <a:r>
              <a:rPr lang="en-US" altLang="en-US" sz="2800" dirty="0">
                <a:latin typeface="Arial" panose="020B0604020202020204" pitchFamily="34" charset="0"/>
              </a:rPr>
              <a:t> calculations.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Auspicious and Inauspicious periods such as Rahu Kalam are derived by dividing the daytime duration obtained from sunrise and sunset.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The system operates completely offline using RTC, GPS, and environmental sensors, ensuring reliable </a:t>
            </a:r>
            <a:r>
              <a:rPr lang="en-US" altLang="en-US" sz="2800" dirty="0" err="1">
                <a:latin typeface="Arial" panose="020B0604020202020204" pitchFamily="34" charset="0"/>
              </a:rPr>
              <a:t>Panchang</a:t>
            </a:r>
            <a:r>
              <a:rPr lang="en-US" altLang="en-US" sz="2800" dirty="0">
                <a:latin typeface="Arial" panose="020B0604020202020204" pitchFamily="34" charset="0"/>
              </a:rPr>
              <a:t> generation without internet dependency.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Finally the output was taken</a:t>
            </a:r>
          </a:p>
        </p:txBody>
      </p:sp>
    </p:spTree>
    <p:extLst>
      <p:ext uri="{BB962C8B-B14F-4D97-AF65-F5344CB8AC3E}">
        <p14:creationId xmlns:p14="http://schemas.microsoft.com/office/powerpoint/2010/main" val="208928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9D11-04C5-41FE-9487-E093DEC65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9" y="324196"/>
            <a:ext cx="10302483" cy="100212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OBJECTIVE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D68F9-0DC6-4EBC-88B1-FD18D2F9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8838" y="6168679"/>
            <a:ext cx="753545" cy="365125"/>
          </a:xfrm>
        </p:spPr>
        <p:txBody>
          <a:bodyPr/>
          <a:lstStyle/>
          <a:p>
            <a:fld id="{FD63B8B8-83C2-4EED-941D-AF0ADB39AC41}" type="slidenum">
              <a:rPr lang="en-IN" sz="1400" b="1" smtClean="0"/>
              <a:pPr/>
              <a:t>7</a:t>
            </a:fld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D753-6D94-4E76-9317-30ACEF08C0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8969" y="1522907"/>
            <a:ext cx="11663414" cy="432388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Precision Astronomical Modeling</a:t>
            </a:r>
          </a:p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Localized Geospatial Integration</a:t>
            </a:r>
          </a:p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Automated Solar Event Generation </a:t>
            </a:r>
          </a:p>
        </p:txBody>
      </p:sp>
    </p:spTree>
    <p:extLst>
      <p:ext uri="{BB962C8B-B14F-4D97-AF65-F5344CB8AC3E}">
        <p14:creationId xmlns:p14="http://schemas.microsoft.com/office/powerpoint/2010/main" val="3587975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3E0C-06A4-4D9B-9623-A46BAD51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978" y="157843"/>
            <a:ext cx="10353761" cy="124132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BLOCK DIAGRAM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A35C3-80EA-414F-B178-82FF50C8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944" y="6097754"/>
            <a:ext cx="753545" cy="365125"/>
          </a:xfrm>
        </p:spPr>
        <p:txBody>
          <a:bodyPr/>
          <a:lstStyle/>
          <a:p>
            <a:fld id="{FD63B8B8-83C2-4EED-941D-AF0ADB39AC41}" type="slidenum">
              <a:rPr lang="en-IN" sz="1600" b="1" smtClean="0"/>
              <a:pPr/>
              <a:t>8</a:t>
            </a:fld>
            <a:endParaRPr lang="en-IN" sz="1600" b="1" dirty="0"/>
          </a:p>
        </p:txBody>
      </p:sp>
      <p:sp>
        <p:nvSpPr>
          <p:cNvPr id="9" name="Rectangle 8"/>
          <p:cNvSpPr/>
          <p:nvPr/>
        </p:nvSpPr>
        <p:spPr>
          <a:xfrm>
            <a:off x="4713755" y="2276872"/>
            <a:ext cx="2592288" cy="32403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26122" y="4437112"/>
            <a:ext cx="2016225" cy="9361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ALARM/BUZZER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8131" y="3068960"/>
            <a:ext cx="1800200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LED DISPLAY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89419" y="2276872"/>
            <a:ext cx="1728192" cy="72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89419" y="3789040"/>
            <a:ext cx="1728192" cy="72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GSR SENSOR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85763" y="3501008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MICROCONTROLLER</a:t>
            </a:r>
          </a:p>
          <a:p>
            <a:pPr algn="ctr"/>
            <a:r>
              <a:rPr lang="en-IN" dirty="0">
                <a:latin typeface="Times New Roman" pitchFamily="18" charset="0"/>
                <a:cs typeface="Times New Roman" pitchFamily="18" charset="0"/>
              </a:rPr>
              <a:t>(ARDUINO UNO)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17411" y="227687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itchFamily="18" charset="0"/>
                <a:cs typeface="Times New Roman" pitchFamily="18" charset="0"/>
              </a:rPr>
              <a:t>EMG SENSOR</a:t>
            </a:r>
          </a:p>
        </p:txBody>
      </p:sp>
      <p:cxnSp>
        <p:nvCxnSpPr>
          <p:cNvPr id="18" name="Straight Arrow Connector 17"/>
          <p:cNvCxnSpPr>
            <a:cxnSpLocks/>
            <a:stCxn id="13" idx="3"/>
          </p:cNvCxnSpPr>
          <p:nvPr/>
        </p:nvCxnSpPr>
        <p:spPr>
          <a:xfrm>
            <a:off x="3417611" y="2636912"/>
            <a:ext cx="1296144" cy="929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3417611" y="4077072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306043" y="3717032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7306043" y="4941168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689419" y="4725144"/>
            <a:ext cx="1728192" cy="72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SP02 SENSOR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417611" y="5085184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617411" y="5805264"/>
            <a:ext cx="1872208" cy="72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TEMPERATURE SENSOR</a:t>
            </a:r>
          </a:p>
          <a:p>
            <a:pPr algn="ctr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Elbow Connector 25"/>
          <p:cNvCxnSpPr>
            <a:cxnSpLocks/>
            <a:stCxn id="25" idx="3"/>
          </p:cNvCxnSpPr>
          <p:nvPr/>
        </p:nvCxnSpPr>
        <p:spPr>
          <a:xfrm flipV="1">
            <a:off x="3489619" y="5373216"/>
            <a:ext cx="1224136" cy="79208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F30134C-657E-45AE-B262-D0573B880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408" y="1642784"/>
            <a:ext cx="9889392" cy="50125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3391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D8194F-6B94-124D-D948-79D39CBC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0912" y="6240780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120FE-EB2E-E821-8192-1744BB044C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75920" y="848360"/>
            <a:ext cx="10363200" cy="4572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time, date and location and pressure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sent to Arduino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processed and analyzed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sunrise and sunset timings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TFT displays status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011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3465B-FB6F-4DD8-9035-C8F34EC1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254" y="154903"/>
            <a:ext cx="9551491" cy="108415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/ SOFTWARE REQUIREMENT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1D9CE-883C-4B4E-88CF-55289CD1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6444" y="6127172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z="1400" smtClean="0"/>
              <a:pPr/>
              <a:t>10</a:t>
            </a:fld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43136-57D9-4724-819C-4D524B2776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88516" y="1084151"/>
            <a:ext cx="10678834" cy="5618946"/>
          </a:xfrm>
        </p:spPr>
        <p:txBody>
          <a:bodyPr>
            <a:normAutofit/>
          </a:bodyPr>
          <a:lstStyle/>
          <a:p>
            <a:pPr lvl="0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Arduino NANO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Arial" panose="020B0604020202020204" pitchFamily="34" charset="0"/>
              </a:rPr>
              <a:t>RTC Sensor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latin typeface="Arial" panose="020B0604020202020204" pitchFamily="34" charset="0"/>
              </a:rPr>
              <a:t>BMP280 Sensor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latin typeface="Arial" panose="020B0604020202020204" pitchFamily="34" charset="0"/>
              </a:rPr>
              <a:t>GPS Sensor 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800" dirty="0">
                <a:latin typeface="Arial" panose="020B0604020202020204" pitchFamily="34" charset="0"/>
              </a:rPr>
              <a:t>TFT Display 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6" name="Picture 5" descr="C:\Users\flint louis\Music\Desktop\ir-sensor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06837" y="1228292"/>
            <a:ext cx="2069740" cy="1778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C:\Users\flint louis\Music\Desktop\NEO-GPS-1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79501" y="1255523"/>
            <a:ext cx="2499907" cy="196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MQ3 Alcohol Sensor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511" y="2892222"/>
            <a:ext cx="2425325" cy="135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https://upload.wikimedia.org/wikipedia/commons/thumb/c/c6/NodeMCU_DEVKIT_1.0_BOTTOM.JPG/220px-NodeMCU_DEVKIT_1.0_BOTTOM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5632" y="4530002"/>
            <a:ext cx="2095500" cy="140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1274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671C-4C6B-4BE9-9E0E-02FC627C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74" y="116505"/>
            <a:ext cx="10353761" cy="9838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DEVELOPED PROTO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E8EE0-BCC2-4474-B001-BAEE2CE7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1775" y="6240829"/>
            <a:ext cx="753545" cy="365125"/>
          </a:xfrm>
        </p:spPr>
        <p:txBody>
          <a:bodyPr/>
          <a:lstStyle/>
          <a:p>
            <a:fld id="{FD63B8B8-83C2-4EED-941D-AF0ADB39AC41}" type="slidenum">
              <a:rPr lang="en-IN" sz="1400" b="1" smtClean="0"/>
              <a:pPr/>
              <a:t>11</a:t>
            </a:fld>
            <a:endParaRPr lang="en-IN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DAE7A-09A3-4BE5-B7A4-F0C82293E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823" y="1267327"/>
            <a:ext cx="6182353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0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006B-94C5-B23F-93FF-5F6E523D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563EB-04C0-E583-4D3D-D569F028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74" y="116505"/>
            <a:ext cx="10353761" cy="9838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DEVELOPED PROTO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A2591-C5F0-6948-E9C2-61FB184D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1775" y="6240829"/>
            <a:ext cx="753545" cy="365125"/>
          </a:xfrm>
        </p:spPr>
        <p:txBody>
          <a:bodyPr/>
          <a:lstStyle/>
          <a:p>
            <a:fld id="{FD63B8B8-83C2-4EED-941D-AF0ADB39AC41}" type="slidenum">
              <a:rPr lang="en-IN" sz="1400" b="1" smtClean="0"/>
              <a:pPr/>
              <a:t>12</a:t>
            </a:fld>
            <a:endParaRPr lang="en-IN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65C73-F05E-4423-8822-9D8CBC6DC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663" y="1079693"/>
            <a:ext cx="5802800" cy="552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05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292563" y="6071755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A97611-F0D6-5839-50CB-BC58EDA82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817" y="183572"/>
            <a:ext cx="10363200" cy="1143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SDG MAPPING </a:t>
            </a:r>
            <a:endParaRPr lang="en-IN" sz="3600" dirty="0">
              <a:solidFill>
                <a:schemeClr val="accent2"/>
              </a:solidFill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8718E974-F9D0-4240-BDEA-41C8D868A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39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31064185-A25D-4798-8922-32BE9AA78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39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1BC4EE0B-1158-4DB2-AD26-4C36F9C3F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39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Picture 1">
            <a:extLst>
              <a:ext uri="{FF2B5EF4-FFF2-40B4-BE49-F238E27FC236}">
                <a16:creationId xmlns:a16="http://schemas.microsoft.com/office/drawing/2014/main" id="{35BAF3FE-AB2D-437D-9929-13C37D11B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39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203596-9B8B-4396-BB43-222AA0E1DE4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58" y="1510144"/>
            <a:ext cx="4318759" cy="458687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AA1B51-B893-4E39-9F69-FCF4CAE669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611" y="1414804"/>
            <a:ext cx="4700337" cy="48432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C5C1B-B0FA-DABB-025E-48D20457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D4F3-189A-84E5-B7B7-68E015C64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817" y="183572"/>
            <a:ext cx="10363200" cy="114300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LIST OF PUBLICATIONS</a:t>
            </a:r>
            <a:endParaRPr lang="en-IN" sz="36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1B116-E805-C5A4-7E43-A4C96415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9545" y="6141028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F9C4D7-4A03-0406-D42B-B86A865C727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2291" y="1500753"/>
            <a:ext cx="10363200" cy="4572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[1] DYANESH M, RAGHAV KANVA V R, SOUNDRARAJAN S A, R</a:t>
            </a:r>
          </a:p>
          <a:p>
            <a:pPr marL="0" indent="0" algn="just">
              <a:buNone/>
            </a:pPr>
            <a:r>
              <a:rPr lang="en-IN" dirty="0"/>
              <a:t>S SABEENINAN SARCIUS, (2026), ‘EDGE - AI DRIVEN</a:t>
            </a:r>
          </a:p>
          <a:p>
            <a:pPr marL="0" indent="0" algn="just">
              <a:buNone/>
            </a:pPr>
            <a:r>
              <a:rPr lang="en-IN" dirty="0"/>
              <a:t>ELECTRONIC INDIAN ASTROLOGICAL CALENDAR FOR</a:t>
            </a:r>
          </a:p>
          <a:p>
            <a:pPr marL="0" indent="0" algn="just">
              <a:buNone/>
            </a:pPr>
            <a:r>
              <a:rPr lang="en-IN" dirty="0"/>
              <a:t>OFFLINE APPLICATION’, International Conference on Green</a:t>
            </a:r>
          </a:p>
          <a:p>
            <a:pPr marL="0" indent="0" algn="just">
              <a:buNone/>
            </a:pPr>
            <a:r>
              <a:rPr lang="en-IN" dirty="0"/>
              <a:t>Computing for Communication Technologies (ICGCCT 2026), 19 &amp; 20</a:t>
            </a:r>
          </a:p>
          <a:p>
            <a:pPr marL="0" indent="0" algn="just">
              <a:buNone/>
            </a:pPr>
            <a:r>
              <a:rPr lang="en-IN" dirty="0"/>
              <a:t>February(2026).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365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6567B-EFE5-43F9-A47E-557B18A3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E949C-59AE-4FC2-801F-34990FBC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3819" y="6065837"/>
            <a:ext cx="753545" cy="365125"/>
          </a:xfrm>
        </p:spPr>
        <p:txBody>
          <a:bodyPr/>
          <a:lstStyle/>
          <a:p>
            <a:fld id="{FD63B8B8-83C2-4EED-941D-AF0ADB39AC41}" type="slidenum">
              <a:rPr lang="en-IN" sz="1400" smtClean="0"/>
              <a:pPr/>
              <a:t>15</a:t>
            </a:fld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D419B-F5FB-4436-8E1F-051FD6680CD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61123" y="170546"/>
            <a:ext cx="10353762" cy="56411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cap="all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CONCLUSION</a:t>
            </a:r>
            <a:br>
              <a:rPr lang="en-US" dirty="0"/>
            </a:b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0DCBB5A-7DA1-EDF9-965C-64945BDCC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799" y="1048958"/>
            <a:ext cx="1167865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The proposed system, "Edge AI-Based Electronic Indian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Astrological Calendar," has been successfully designed and implemented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by utilizing the Arduino Nano platform. The hardware components used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in this project, like the RTC module (DS3231), Neo-6M GPS module,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BMP280 sensor, and 2.4-inch TFT display, have been integrated to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develop a complete hardware solution to compute and display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astrological details. The design and development of this project have been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greatly influenced by the literature survey conducted, which helped to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develop a strong foundation in the design of embedded systems and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</a:rPr>
              <a:t>astronomical calculation methodologies.</a:t>
            </a:r>
            <a:endParaRPr kumimoji="0" lang="en-US" altLang="en-US" sz="4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510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20" y="0"/>
            <a:ext cx="10363200" cy="85673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20300" y="6196445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266218" cy="500841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N. Zambetti, 2022, Wire Library for I2C Communication, Arduino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Documentation,1-5.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M.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Banzi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Cuartielles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2023, Arduino Nano Technical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Specifications, Arduino Hardware Documentation,1-4.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L. Fried, 2023, 2.4 Inch TFT LCD Display Guide, Adafruit Industries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Documentation,1-6.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D.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Mellis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2023, Arduino Software Environment, Arduino Development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Documentation,1-3.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Hareendran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2017/2019, BMP280 and NEO-6M Technical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Implementation, Technical Article,1-7.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Monk, 2021, Programming Arduino, McGraw Hill Education, 1–182.</a:t>
            </a:r>
            <a:endParaRPr lang="en-IN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A5BFD-6AC7-8618-39A9-C0967AAC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EEEA-2032-CC7C-189A-44550962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20" y="0"/>
            <a:ext cx="10363200" cy="85673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659A8-5F5D-E1D6-6DCF-1AEE5EE4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0300" y="6196445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24DC27-E6CB-0D38-9A40-8833FA41EE0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266218" cy="5008418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J. Smith and R. Kumar, 2020, Design of Embedded Real-Time Systems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Arduino, International Journal of Embedded Systems, 12, 3, 145–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152.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H. Lee and S. Park, 2021, Solar Position Algorithm for Embedded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 IEEE Access, 45521–45532.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X. Wang et al., 2022, Accurate Sunrise and Sunset Calculation using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Platforms, IEEE Transactions on Instrumentation, 1–10.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A. Singh and P. Verma, 2021, Design of Real-Time Clock Based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 International Journal of Electronics, 88–95.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S. Kumar and D. Patel, 2020, IoT Based Environmental Monitoring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BMP280, International Journal of IoT Applications, 33–40.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Y. Zhang et al., 2023, Edge Computing in Embedded Systems, IEEE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Journal, 2201–2212.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14673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5346" y="2338965"/>
            <a:ext cx="10363200" cy="1143000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53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67872" y="6127173"/>
            <a:ext cx="609600" cy="457200"/>
          </a:xfrm>
        </p:spPr>
        <p:txBody>
          <a:bodyPr/>
          <a:lstStyle/>
          <a:p>
            <a:fld id="{FD63B8B8-83C2-4EED-941D-AF0ADB39AC41}" type="slidenum">
              <a:rPr lang="en-IN" smtClean="0"/>
              <a:pPr/>
              <a:t>18</a:t>
            </a:fld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